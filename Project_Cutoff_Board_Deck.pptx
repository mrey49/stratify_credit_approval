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430"/>
                </a:solidFill>
                <a:latin typeface="Arial"/>
              </a:rPr>
              <a:t>Applicants rejected vs. would-have-repaid, per rule (in isolation)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R8 occupation
blank</c:v>
                  </c:pt>
                  <c:pt idx="1">
                    <c:v>R5 age &lt; 23</c:v>
                  </c:pt>
                  <c:pt idx="2">
                    <c:v>R2 job &lt;
12 months</c:v>
                  </c:pt>
                  <c:pt idx="3">
                    <c:v>R3 loan &gt; 6x
income</c:v>
                  </c:pt>
                  <c:pt idx="4">
                    <c:v>R7 &gt; 4
enquiries</c:v>
                  </c:pt>
                  <c:pt idx="5">
                    <c:v>R6 any
overdue</c:v>
                  </c:pt>
                  <c:pt idx="6">
                    <c:v>R4 EMI &gt;
45%</c:v>
                  </c:pt>
                  <c:pt idx="7">
                    <c:v>R1 bureau
score &lt; 0.45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3734</c:v>
                </c:pt>
                <c:pt idx="1">
                  <c:v>2627</c:v>
                </c:pt>
                <c:pt idx="2">
                  <c:v>9044</c:v>
                </c:pt>
                <c:pt idx="3">
                  <c:v>740</c:v>
                </c:pt>
                <c:pt idx="4">
                  <c:v>6475</c:v>
                </c:pt>
                <c:pt idx="5">
                  <c:v>4675</c:v>
                </c:pt>
                <c:pt idx="6">
                  <c:v>6254</c:v>
                </c:pt>
                <c:pt idx="7">
                  <c:v>18260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Would have repaid</c:v>
                </c:pt>
              </c:strCache>
            </c:strRef>
          </c:tx>
          <c:spPr>
            <a:solidFill>
              <a:srgbClr val="1E8A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R8 occupation
blank</c:v>
                  </c:pt>
                  <c:pt idx="1">
                    <c:v>R5 age &lt; 23</c:v>
                  </c:pt>
                  <c:pt idx="2">
                    <c:v>R2 job &lt;
12 months</c:v>
                  </c:pt>
                  <c:pt idx="3">
                    <c:v>R3 loan &gt; 6x
income</c:v>
                  </c:pt>
                  <c:pt idx="4">
                    <c:v>R7 &gt; 4
enquiries</c:v>
                  </c:pt>
                  <c:pt idx="5">
                    <c:v>R6 any
overdue</c:v>
                  </c:pt>
                  <c:pt idx="6">
                    <c:v>R4 EMI &gt;
45%</c:v>
                  </c:pt>
                  <c:pt idx="7">
                    <c:v>R1 bureau
score &lt; 0.45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3312</c:v>
                </c:pt>
                <c:pt idx="1">
                  <c:v>2244</c:v>
                </c:pt>
                <c:pt idx="2">
                  <c:v>7903</c:v>
                </c:pt>
                <c:pt idx="3">
                  <c:v>367</c:v>
                </c:pt>
                <c:pt idx="4">
                  <c:v>5429</c:v>
                </c:pt>
                <c:pt idx="5">
                  <c:v>3812</c:v>
                </c:pt>
                <c:pt idx="6">
                  <c:v>4806</c:v>
                </c:pt>
                <c:pt idx="7">
                  <c:v>15091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Applicants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150" b="0" i="0" u="none" strike="noStrike">
                <a:solidFill>
                  <a:srgbClr val="1F2430"/>
                </a:solidFill>
                <a:latin typeface="Arial"/>
              </a:rPr>
              <a:t>Net financial impact when a rule is the SOLE reason for rejection (Rs, 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impact (Rs, millions)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R2 job &lt;
12 months</c:v>
                  </c:pt>
                  <c:pt idx="1">
                    <c:v>R8 occupation
blank</c:v>
                  </c:pt>
                  <c:pt idx="2">
                    <c:v>R7 &gt; 4
enquiries</c:v>
                  </c:pt>
                  <c:pt idx="3">
                    <c:v>R5 age
&lt; 23</c:v>
                  </c:pt>
                  <c:pt idx="4">
                    <c:v>R6 any
overdue</c:v>
                  </c:pt>
                  <c:pt idx="5">
                    <c:v>R3 loan &gt;
6x income</c:v>
                  </c:pt>
                  <c:pt idx="6">
                    <c:v>R4 EMI &gt;
45%</c:v>
                  </c:pt>
                  <c:pt idx="7">
                    <c:v>R1 bureau
score &lt; 0.45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-9.176</c:v>
                </c:pt>
                <c:pt idx="1">
                  <c:v>-4.284</c:v>
                </c:pt>
                <c:pt idx="2">
                  <c:v>-2.4568</c:v>
                </c:pt>
                <c:pt idx="3">
                  <c:v>-1.8912</c:v>
                </c:pt>
                <c:pt idx="4">
                  <c:v>-1.8072</c:v>
                </c:pt>
                <c:pt idx="5">
                  <c:v>0</c:v>
                </c:pt>
                <c:pt idx="6">
                  <c:v>0.976</c:v>
                </c:pt>
                <c:pt idx="7">
                  <c:v>8.6448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430"/>
                </a:solidFill>
                <a:latin typeface="Arial"/>
              </a:rPr>
              <a:t>Profit per 10,000 applications vs. approval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per 10,000 apps (Rs, millions)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55%</c:v>
                  </c:pt>
                  <c:pt idx="6">
                    <c:v>59%</c:v>
                  </c:pt>
                  <c:pt idx="7">
                    <c:v>60%</c:v>
                  </c:pt>
                  <c:pt idx="8">
                    <c:v>65%</c:v>
                  </c:pt>
                  <c:pt idx="9">
                    <c:v>70%</c:v>
                  </c:pt>
                  <c:pt idx="10">
                    <c:v>75%</c:v>
                  </c:pt>
                  <c:pt idx="11">
                    <c:v>80%</c:v>
                  </c:pt>
                  <c:pt idx="12">
                    <c:v>90%</c:v>
                  </c:pt>
                  <c:pt idx="13">
                    <c:v>100%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</c:v>
                </c:pt>
                <c:pt idx="1">
                  <c:v>11.3</c:v>
                </c:pt>
                <c:pt idx="2">
                  <c:v>15.2</c:v>
                </c:pt>
                <c:pt idx="3">
                  <c:v>17.7</c:v>
                </c:pt>
                <c:pt idx="4">
                  <c:v>19.15</c:v>
                </c:pt>
                <c:pt idx="5">
                  <c:v>19.5</c:v>
                </c:pt>
                <c:pt idx="6">
                  <c:v>19.69</c:v>
                </c:pt>
                <c:pt idx="7">
                  <c:v>19.696</c:v>
                </c:pt>
                <c:pt idx="8">
                  <c:v>19</c:v>
                </c:pt>
                <c:pt idx="9">
                  <c:v>17.2</c:v>
                </c:pt>
                <c:pt idx="10">
                  <c:v>14.6</c:v>
                </c:pt>
                <c:pt idx="11">
                  <c:v>11.6</c:v>
                </c:pt>
                <c:pt idx="12">
                  <c:v>4.8</c:v>
                </c:pt>
                <c:pt idx="13">
                  <c:v>-3.2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Approval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Rs,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23306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286000" cy="2286000"/>
          </a:xfrm>
          <a:prstGeom prst="ellipse">
            <a:avLst/>
          </a:prstGeom>
          <a:solidFill>
            <a:srgbClr val="2B3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2.0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CUTOFF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Credit Approval Policy for Meridian Capital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Meridian Capital Board  |  FY27 Approval Rate Recommendation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Club &amp; Consult Club, UGAC — IIT Bombay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approval rate is costing Meridian money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loans have climbed from 3.1% to 4.6% even as disbursals stayed flat. The Business Head believes good customers are being turned away; the Risk Head fears loosening the rules invites more losses. The board needs one number for FY27: what share of applicants should Meridian approve?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40080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290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profit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keeping the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at or below 6.5%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recommend one clear approval rate for FY27.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1417320"/>
            <a:ext cx="4251960" cy="1207008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5270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9520" y="2167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approval rate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60920" y="2807208"/>
            <a:ext cx="4251960" cy="1207008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9169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 → 4.6%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589520" y="35570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Bad-loan rate, rising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4197096"/>
            <a:ext cx="4251960" cy="1207008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43068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89520" y="49469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Board's default-rate ceiling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TODAY'S RULEBOOK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rejects an applicant if any of 8 rules fire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1848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61848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5087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 &lt; 0.45, or missing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618488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54496" y="161848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67728" y="15087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12 months in current job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313432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3134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220370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&gt; 6× annual income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203704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2313432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23134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7728" y="220370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&gt; 45% of monthly income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898648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008376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00837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289864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&lt; 23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898648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3008376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300837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7728" y="289864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overdue amount on bureau record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59359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3703320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370332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89888" y="359359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4 credit enquiries last quarter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59359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4496" y="3703320"/>
            <a:ext cx="566928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254496" y="370332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67728" y="359359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field is blank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32,241 of 45,000 applicants (71.6%) are rejected today — only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28.4%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approved.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TASK 1(A)+(B)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people does each rule reject — and how many would have repaid?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720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1732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572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APPLICANTS THE RULES REJECT... REPAY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20574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(bureau score) alone rejects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18,260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applicants — of whom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have repaid.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35661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726680" y="3730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26680" y="4041648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counts overlap — one applicant can trip several rules at once, so they can't simply be added up. This view treats each rule as if it acted alone. Section 3 (next) isolates each rule's exclusive, non-overlapping impact to find who is really at fault.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TASK 1(C)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rule is really hurting Meridian, on its own?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applicants rejected by exactly one rule (17,649 of them — the other 14,592 rejections overlap with another rule) shows each rule's true, independent cost or saving.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05740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2128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HARMFUL RULE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2514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— Job Tenure &lt; 12 Months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0" y="306324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D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3,204 applicants on its own;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D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them would have repaid — costing Meridian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9.18M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D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foregone profit no other rule would have caught.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4553712"/>
            <a:ext cx="3794760" cy="1481328"/>
          </a:xfrm>
          <a:prstGeom prst="roundRect">
            <a:avLst>
              <a:gd name="adj" fmla="val 4938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4690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RULE THAT PAYS FOR ITSELF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6720" y="4974336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(bureau score)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only rule with a positive solo impact —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+Rs 8.64M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It's genuinely doing useful risk work.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4-6 · TASK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applicants safest-to-riskiest reveals a profit-maximising cutoff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is ranked by risk score (0 = safest). Approving the safest k% for every k from 1% to 100% traces out a profit curve — profit doesn't keep climbing all the way to the 6.5% default cap. It peaks well before that.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60520" y="23317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7" name="Text 4"/>
          <p:cNvSpPr/>
          <p:nvPr/>
        </p:nvSpPr>
        <p:spPr>
          <a:xfrm>
            <a:off x="416052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59%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205740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167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rises smoothly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63840" y="25146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risk score ranks applicants correctly — no spikes or dips.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7635240" y="3502152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cap breached at 75%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863840" y="395935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profit already peaked at 59% — 16 points earlier.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635240" y="4946904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5056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risk-constrained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0" y="540410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turns over purely from loan economics — approving a riskier applicant stops being worth it once their default odds pass breakeven (10.96%).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safest 59% of applicants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risk score, not the 8 blunt threshold rules — up from 29% today.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63177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4107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28.4% today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3317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63177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651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11880" y="34107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default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inside the 6.5% cap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63177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651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19.7M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34107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10,000 apps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Rs 9.74M today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23317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263177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6517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+Rs 9.96M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72600" y="34107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uplift per 10,000 apps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102% increase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141B49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92040"/>
            <a:ext cx="10561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economics say an applicant is worth approving only if their default probability is below the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point of 10.96%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risk-score threshold at 59% approval lands at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10.07%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almost exactly where the numbers predict. This cutoff isn't a guess; it falls out of the data.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OLD VS. NEW POLICY, APPLICANT BY APPLICANT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"approve more" — it's a targeted swap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EAF7F0"/>
          </a:solidFill>
          <a:ln w="15875">
            <a:solidFill>
              <a:srgbClr val="1E8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APPROVED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15,294 applicants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customers the 8 rules reject on a single blunt threshold — the score correctly identifies them as safe.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3240" y="3200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6.17%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if approved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63240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42.8M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4114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Salaried, higher income, DSA + branch channel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BEAE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276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REJECTED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1920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1,488 applicants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today, but none of the 8 thresholds happen to catch their real risk profile.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0" y="3200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13.31% (2x the cap)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if approved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0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2.0M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0" y="4114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Self-employed, lower income, DSA channel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9377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more applicants gained than lost.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trades a small, well-defined pocket of risky-but-rule-compliant applicants for a much larger group of safe-but-rule-flagged ones.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59% score cutoff beats the current 8-rule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27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Rescues good customers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12140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15,294 applicants worth Rs 42.8M in profit that today's blunt thresholds turn away outright.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27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real risk the rules miss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212140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rejects 1,488 applicants with a 13.3% default rate — over double the cap — that no single rule flags today.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27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Diagnosed, not guessed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212140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(job tenure) alone costs Rs 9.18M in solo rejections; R1 (bureau score) is the only rule pulling its weight — this policy fixes exactly what's broken.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593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Profit-led, not just default-led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0873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59% cutoff is where profit peaks — 16 points before the 6.5% default cap even binds. It isn't a risk-constrained compromise.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343400" y="34290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593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Economically validated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0873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breakeven default probability (10.96%) and the score at the 59% cutoff (10.07%) line up almost exactly — the number falls out of the data, not intuition.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8138160" y="34290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593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doubles profit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21040" y="40873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19.7M vs Rs 9.74M profit per 10,000 applications — a Rs 9.96M uplift, at a default rate that moves only 5.08% → 5.24%.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 ·  MERIDIAN CAPITAL  ·  STRATIFY 2.0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FOR THE 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for FY27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1106424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18288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safest 59% of applicants by risk score (up from 29% today).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06424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10,000 applications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2514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Rs 19.7M — an uplift of Rs 9.96M over today's Rs 9.74M.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1106424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32004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5.24%, comfortably inside the 6.5% board ceiling.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53128"/>
            <a:ext cx="11064240" cy="0"/>
          </a:xfrm>
          <a:prstGeom prst="line">
            <a:avLst/>
          </a:prstGeom>
          <a:noFill/>
          <a:ln w="12700">
            <a:solidFill>
              <a:srgbClr val="3B47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better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38862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rescues ~15,294 good customers the rules reject, while catching ~1,488 risky accounts the rules currently approve.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simulated for the STRATIFY 2.0 bootcamp exercise. Full workings in the accompanying notebook.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420624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5120640"/>
            <a:ext cx="4114800" cy="4114800"/>
          </a:xfrm>
          <a:prstGeom prst="ellipse">
            <a:avLst/>
          </a:prstGeom>
          <a:solidFill>
            <a:srgbClr val="23306F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6035040"/>
            <a:ext cx="2286000" cy="2286000"/>
          </a:xfrm>
          <a:prstGeom prst="ellipse">
            <a:avLst/>
          </a:prstGeom>
          <a:solidFill>
            <a:srgbClr val="2B3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Cutoff — Credit Policy Design for Meridian Capital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263177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416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Vipul Bansal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553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25B3314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8404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263177"/>
          </a:solidFill>
          <a:ln w="12700">
            <a:solidFill>
              <a:srgbClr val="3B47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40416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Reyansh Mittal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57800" y="4553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25B3976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Club &amp; Consult Club, UGAC — IIT Bombay  |  STRATIFY 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2026-09-01T15:21:53Z</dcterms:created>
  <dcterms:modified xsi:type="dcterms:W3CDTF">2026-09-01T15:21:53Z</dcterms:modified>
</cp:coreProperties>
</file>